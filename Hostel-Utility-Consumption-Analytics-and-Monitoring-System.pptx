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Lora" pitchFamily="2" charset="0"/>
      <p:regular r:id="rId13"/>
    </p:embeddedFont>
    <p:embeddedFont>
      <p:font typeface="Source Sans 3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iyavelan Y" userId="59644df51affd9d5" providerId="LiveId" clId="{36FA332F-56AF-4816-B655-F8AB66D8A401}"/>
    <pc:docChg chg="modSld">
      <pc:chgData name="Suriyavelan Y" userId="59644df51affd9d5" providerId="LiveId" clId="{36FA332F-56AF-4816-B655-F8AB66D8A401}" dt="2026-01-30T16:37:36.794" v="1" actId="14100"/>
      <pc:docMkLst>
        <pc:docMk/>
      </pc:docMkLst>
      <pc:sldChg chg="modSp mod">
        <pc:chgData name="Suriyavelan Y" userId="59644df51affd9d5" providerId="LiveId" clId="{36FA332F-56AF-4816-B655-F8AB66D8A401}" dt="2026-01-30T16:37:36.794" v="1" actId="14100"/>
        <pc:sldMkLst>
          <pc:docMk/>
          <pc:sldMk cId="0" sldId="256"/>
        </pc:sldMkLst>
        <pc:spChg chg="mod">
          <ac:chgData name="Suriyavelan Y" userId="59644df51affd9d5" providerId="LiveId" clId="{36FA332F-56AF-4816-B655-F8AB66D8A401}" dt="2026-01-30T16:37:36.794" v="1" actId="14100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3397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Relationship Id="rId1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3" y="985242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60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Hostel Utility Consumption Analytics &amp; Monitoring System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5823284" y="4533351"/>
            <a:ext cx="6794784" cy="59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              </a:t>
            </a:r>
            <a:r>
              <a:rPr lang="en-US" sz="2400" b="1" dirty="0">
                <a:solidFill>
                  <a:srgbClr val="1D1D1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Ki</a:t>
            </a:r>
            <a:r>
              <a:rPr lang="en-US" sz="24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2400" b="1" dirty="0">
                <a:solidFill>
                  <a:srgbClr val="D6E5EF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Project Presented by</a:t>
            </a:r>
          </a:p>
          <a:p>
            <a:pPr marL="0" indent="0" algn="l">
              <a:lnSpc>
                <a:spcPts val="3000"/>
              </a:lnSpc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324122" y="5132309"/>
            <a:ext cx="7468553" cy="76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400" dirty="0">
                <a:solidFill>
                  <a:srgbClr val="D6E5EF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Y. Suriyavelan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400" dirty="0">
                <a:solidFill>
                  <a:srgbClr val="D6E5EF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D. </a:t>
            </a:r>
            <a:r>
              <a:rPr lang="en-US" sz="2400" dirty="0" err="1">
                <a:solidFill>
                  <a:srgbClr val="D6E5EF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Franto</a:t>
            </a:r>
            <a:r>
              <a:rPr lang="en-US" sz="2400" dirty="0">
                <a:solidFill>
                  <a:srgbClr val="D6E5EF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 Vasanth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76469"/>
            <a:ext cx="1226915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Problem: Unseen Wastage &amp; Soaring Costs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37724" y="2459236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Hostels face significant challenges with utility management, leading to unnecessary expenses and environmental impact.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3111460"/>
            <a:ext cx="4158734" cy="1801177"/>
          </a:xfrm>
          <a:prstGeom prst="roundRect">
            <a:avLst>
              <a:gd name="adj" fmla="val 8123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244" y="3111460"/>
            <a:ext cx="121920" cy="18011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98959" y="338125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High Wastage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98959" y="3876794"/>
            <a:ext cx="352770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Prevalent electricity and water waste due to negligence.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5235773" y="3111460"/>
            <a:ext cx="4158734" cy="1801177"/>
          </a:xfrm>
          <a:prstGeom prst="roundRect">
            <a:avLst>
              <a:gd name="adj" fmla="val 8123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5293" y="3111460"/>
            <a:ext cx="121920" cy="180117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97009" y="338125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Energy Drain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597009" y="3876794"/>
            <a:ext cx="352770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Fans and lights often left running in unoccupied rooms.</a:t>
            </a:r>
            <a:endParaRPr lang="en-US" sz="1850" dirty="0"/>
          </a:p>
        </p:txBody>
      </p:sp>
      <p:sp>
        <p:nvSpPr>
          <p:cNvPr id="12" name="Shape 8"/>
          <p:cNvSpPr/>
          <p:nvPr/>
        </p:nvSpPr>
        <p:spPr>
          <a:xfrm>
            <a:off x="9633823" y="3111460"/>
            <a:ext cx="4158853" cy="1801177"/>
          </a:xfrm>
          <a:prstGeom prst="roundRect">
            <a:avLst>
              <a:gd name="adj" fmla="val 8123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3343" y="3111460"/>
            <a:ext cx="121920" cy="180117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995059" y="338125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Water Loss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9995059" y="3876794"/>
            <a:ext cx="352782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Frequent water leakage and tank overflow issues.</a:t>
            </a:r>
            <a:endParaRPr lang="en-US" sz="1850" dirty="0"/>
          </a:p>
        </p:txBody>
      </p:sp>
      <p:sp>
        <p:nvSpPr>
          <p:cNvPr id="16" name="Shape 11"/>
          <p:cNvSpPr/>
          <p:nvPr/>
        </p:nvSpPr>
        <p:spPr>
          <a:xfrm>
            <a:off x="837724" y="5151953"/>
            <a:ext cx="4158734" cy="1801177"/>
          </a:xfrm>
          <a:prstGeom prst="roundRect">
            <a:avLst>
              <a:gd name="adj" fmla="val 8123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244" y="5151953"/>
            <a:ext cx="121920" cy="180117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98959" y="542174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Budget Impact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1198959" y="5917287"/>
            <a:ext cx="352770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Escalating monthly electricity bills directly affecting budgets.</a:t>
            </a:r>
            <a:endParaRPr lang="en-US" sz="1850" dirty="0"/>
          </a:p>
        </p:txBody>
      </p:sp>
      <p:sp>
        <p:nvSpPr>
          <p:cNvPr id="20" name="Shape 14"/>
          <p:cNvSpPr/>
          <p:nvPr/>
        </p:nvSpPr>
        <p:spPr>
          <a:xfrm>
            <a:off x="5235773" y="5151953"/>
            <a:ext cx="4158734" cy="1801177"/>
          </a:xfrm>
          <a:prstGeom prst="roundRect">
            <a:avLst>
              <a:gd name="adj" fmla="val 8123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5293" y="5151953"/>
            <a:ext cx="121920" cy="180117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597009" y="542174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Blind Spots</a:t>
            </a:r>
            <a:endParaRPr lang="en-US" sz="2200" dirty="0"/>
          </a:p>
        </p:txBody>
      </p:sp>
      <p:sp>
        <p:nvSpPr>
          <p:cNvPr id="23" name="Text 16"/>
          <p:cNvSpPr/>
          <p:nvPr/>
        </p:nvSpPr>
        <p:spPr>
          <a:xfrm>
            <a:off x="5597009" y="5917287"/>
            <a:ext cx="352770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Absence of proper monitoring and alert mechanisms.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77794" y="631269"/>
            <a:ext cx="5437346" cy="467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Limitations of Existing Systems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90462" y="1415291"/>
            <a:ext cx="10325457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Current utility management practices in hostels are often inefficient and reactive</a:t>
            </a: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22" y="2415302"/>
            <a:ext cx="6575703" cy="449913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308544" y="2336976"/>
            <a:ext cx="3176826" cy="423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9464" y="2627964"/>
            <a:ext cx="79415" cy="7941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308543" y="2527115"/>
            <a:ext cx="3449735" cy="470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Times New Roman" panose="02020603050405020304" pitchFamily="18" charset="0"/>
                <a:ea typeface="Lora" pitchFamily="34" charset="-122"/>
                <a:cs typeface="Times New Roman" panose="02020603050405020304" pitchFamily="18" charset="0"/>
              </a:rPr>
              <a:t>Absent Analytics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9334563" y="2901244"/>
            <a:ext cx="3282315" cy="117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No analytical tools or comprehensive consumption reports.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3640" y="4408982"/>
            <a:ext cx="79415" cy="7941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352968" y="4318792"/>
            <a:ext cx="1870472" cy="25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Times New Roman" panose="02020603050405020304" pitchFamily="18" charset="0"/>
                <a:ea typeface="Lora" pitchFamily="34" charset="-122"/>
                <a:cs typeface="Times New Roman" panose="02020603050405020304" pitchFamily="18" charset="0"/>
              </a:rPr>
              <a:t>No Alerts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9374298" y="4640179"/>
            <a:ext cx="3176826" cy="423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Absence of an automated alert system for wastage detection.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3640" y="6269415"/>
            <a:ext cx="79415" cy="79415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308544" y="6184940"/>
            <a:ext cx="1870472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Times New Roman" panose="02020603050405020304" pitchFamily="18" charset="0"/>
                <a:ea typeface="Lora" pitchFamily="34" charset="-122"/>
                <a:cs typeface="Times New Roman" panose="02020603050405020304" pitchFamily="18" charset="0"/>
              </a:rPr>
              <a:t>No Prediction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9308544" y="6548856"/>
            <a:ext cx="3176826" cy="423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Inability to forecast future consumption or potential costs.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01359" y="428982"/>
            <a:ext cx="8211383" cy="45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Our Proposed Solution: Smart Utility Monitoring</a:t>
            </a:r>
            <a:endParaRPr lang="en-US" sz="2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141" y="1037271"/>
            <a:ext cx="7797879" cy="356877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33662" y="1973188"/>
            <a:ext cx="501361" cy="501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437358" y="3413971"/>
            <a:ext cx="1463971" cy="530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Predicted Consumption</a:t>
            </a:r>
            <a:endParaRPr lang="en-US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98214" y="1974128"/>
            <a:ext cx="501360" cy="5013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559943" y="3399291"/>
            <a:ext cx="1463972" cy="530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Analytics &amp; Alerts</a:t>
            </a:r>
            <a:endParaRPr lang="en-US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63236" y="1974128"/>
            <a:ext cx="501360" cy="50136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681930" y="3452965"/>
            <a:ext cx="1463971" cy="530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Web-based System</a:t>
            </a:r>
            <a:endParaRPr lang="en-US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18231" y="1974128"/>
            <a:ext cx="501360" cy="50136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3829584" y="3452965"/>
            <a:ext cx="1463972" cy="26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Input Data</a:t>
            </a:r>
            <a:endParaRPr lang="en-US" dirty="0"/>
          </a:p>
        </p:txBody>
      </p:sp>
      <p:sp>
        <p:nvSpPr>
          <p:cNvPr id="12" name="Text 5"/>
          <p:cNvSpPr/>
          <p:nvPr/>
        </p:nvSpPr>
        <p:spPr>
          <a:xfrm>
            <a:off x="1116985" y="4217710"/>
            <a:ext cx="9990583" cy="3037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 introduce a comprehensive web-based system designed to revolutionize hostel utility management.</a:t>
            </a:r>
            <a:endParaRPr lang="en-US" sz="20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87347" y="5065992"/>
            <a:ext cx="5013722" cy="617577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3363932" y="5826026"/>
            <a:ext cx="1816537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Web-Based Platform</a:t>
            </a:r>
            <a:endParaRPr lang="en-US" dirty="0"/>
          </a:p>
        </p:txBody>
      </p:sp>
      <p:sp>
        <p:nvSpPr>
          <p:cNvPr id="15" name="Text 7"/>
          <p:cNvSpPr/>
          <p:nvPr/>
        </p:nvSpPr>
        <p:spPr>
          <a:xfrm>
            <a:off x="2487347" y="6153911"/>
            <a:ext cx="4705112" cy="203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Accessible and intuitive interface for all users.</a:t>
            </a:r>
            <a:endParaRPr lang="en-US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99574" y="5073899"/>
            <a:ext cx="5013841" cy="617577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397483" y="5751126"/>
            <a:ext cx="1816537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Integrated Tracking</a:t>
            </a:r>
            <a:endParaRPr lang="en-US" dirty="0"/>
          </a:p>
        </p:txBody>
      </p:sp>
      <p:sp>
        <p:nvSpPr>
          <p:cNvPr id="18" name="Text 9"/>
          <p:cNvSpPr/>
          <p:nvPr/>
        </p:nvSpPr>
        <p:spPr>
          <a:xfrm>
            <a:off x="8548713" y="6079440"/>
            <a:ext cx="4705231" cy="310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Monitors both electricity and water consumption.</a:t>
            </a:r>
            <a:endParaRPr lang="en-US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00159" y="6476809"/>
            <a:ext cx="5013722" cy="617577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3184221" y="7192329"/>
            <a:ext cx="1816537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Wastage Detection</a:t>
            </a:r>
            <a:endParaRPr lang="en-US" dirty="0"/>
          </a:p>
        </p:txBody>
      </p:sp>
      <p:sp>
        <p:nvSpPr>
          <p:cNvPr id="21" name="Text 11"/>
          <p:cNvSpPr/>
          <p:nvPr/>
        </p:nvSpPr>
        <p:spPr>
          <a:xfrm>
            <a:off x="2554464" y="7496664"/>
            <a:ext cx="4705112" cy="203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identification of anomalies and inefficiencies.</a:t>
            </a:r>
            <a:endParaRPr lang="en-US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48713" y="6428738"/>
            <a:ext cx="5013841" cy="617577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9585686" y="7148956"/>
            <a:ext cx="1816537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Predictive Analytics</a:t>
            </a:r>
            <a:endParaRPr lang="en-US" dirty="0"/>
          </a:p>
        </p:txBody>
      </p:sp>
      <p:sp>
        <p:nvSpPr>
          <p:cNvPr id="24" name="Text 13"/>
          <p:cNvSpPr/>
          <p:nvPr/>
        </p:nvSpPr>
        <p:spPr>
          <a:xfrm>
            <a:off x="8831179" y="7401326"/>
            <a:ext cx="4897967" cy="32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Forecasts future usage and potential billing.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5349" y="547449"/>
            <a:ext cx="7114699" cy="582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Platform &amp; Technologies Utilized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885349" y="1457325"/>
            <a:ext cx="12859583" cy="416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system leverages modern web technologies and AI for robust performance</a:t>
            </a:r>
            <a:r>
              <a:rPr lang="en-US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97833" y="3116179"/>
            <a:ext cx="8650704" cy="2995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2000" b="1" dirty="0">
                <a:solidFill>
                  <a:srgbClr val="D6E5EF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Platform:</a:t>
            </a:r>
            <a:r>
              <a:rPr lang="en-US" sz="2000" dirty="0">
                <a:solidFill>
                  <a:srgbClr val="D6E5EF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 Web Application for broad accessibility.</a:t>
            </a:r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2000" b="1" dirty="0">
                <a:solidFill>
                  <a:srgbClr val="D6E5EF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Tool Used:</a:t>
            </a:r>
            <a:r>
              <a:rPr lang="en-US" sz="2000" dirty="0">
                <a:solidFill>
                  <a:srgbClr val="D6E5EF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 AntiGravity Web App Builder for efficient</a:t>
            </a:r>
          </a:p>
          <a:p>
            <a:pPr algn="l">
              <a:lnSpc>
                <a:spcPts val="2250"/>
              </a:lnSpc>
              <a:buSzPct val="100000"/>
            </a:pPr>
            <a:endParaRPr lang="en-US" sz="2000" dirty="0">
              <a:solidFill>
                <a:srgbClr val="D6E5EF"/>
              </a:solidFill>
              <a:latin typeface="Times New Roman" panose="02020603050405020304" pitchFamily="18" charset="0"/>
              <a:ea typeface="Source Sans 3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ts val="2250"/>
              </a:lnSpc>
              <a:buSzPct val="100000"/>
            </a:pPr>
            <a:r>
              <a:rPr lang="en-US" sz="2000" dirty="0">
                <a:solidFill>
                  <a:srgbClr val="D6E5EF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     development.</a:t>
            </a:r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2000" b="1" dirty="0">
                <a:solidFill>
                  <a:srgbClr val="D6E5EF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Frontend:</a:t>
            </a:r>
            <a:r>
              <a:rPr lang="en-US" sz="2000" dirty="0">
                <a:solidFill>
                  <a:srgbClr val="D6E5EF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 Dynamic and user-friendly Dashboard UI.</a:t>
            </a:r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2000" b="1" dirty="0">
                <a:solidFill>
                  <a:srgbClr val="D6E5EF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Backend:</a:t>
            </a:r>
            <a:r>
              <a:rPr lang="en-US" sz="2000" dirty="0">
                <a:solidFill>
                  <a:srgbClr val="D6E5EF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 Secure Database and complex business logic.</a:t>
            </a:r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2000" b="1" dirty="0">
                <a:solidFill>
                  <a:srgbClr val="D6E5EF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AI Logic:</a:t>
            </a:r>
            <a:r>
              <a:rPr lang="en-US" sz="2000" dirty="0">
                <a:solidFill>
                  <a:srgbClr val="D6E5EF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 Advanced Trend-based Prediction models.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3686" y="1730015"/>
            <a:ext cx="4186714" cy="53828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2118" y="723424"/>
            <a:ext cx="7171611" cy="631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40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System Architecture Overview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52118" y="1741170"/>
            <a:ext cx="13769998" cy="5765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modular design ensures scalability and efficient management of various functions.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52118" y="2284333"/>
            <a:ext cx="3136821" cy="3003828"/>
          </a:xfrm>
          <a:prstGeom prst="roundRect">
            <a:avLst>
              <a:gd name="adj" fmla="val 1073"/>
            </a:avLst>
          </a:prstGeom>
          <a:solidFill>
            <a:srgbClr val="44475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07" y="2499122"/>
            <a:ext cx="644604" cy="64460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191" y="2676287"/>
            <a:ext cx="290036" cy="2900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6907" y="3336608"/>
            <a:ext cx="2528292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 Roles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966907" y="3768447"/>
            <a:ext cx="2707243" cy="978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Admin, Warden, Student, Maintenance personnel with distinct access levels.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4081820" y="2284333"/>
            <a:ext cx="3136940" cy="3003828"/>
          </a:xfrm>
          <a:prstGeom prst="roundRect">
            <a:avLst>
              <a:gd name="adj" fmla="val 1073"/>
            </a:avLst>
          </a:prstGeom>
          <a:solidFill>
            <a:srgbClr val="444752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6608" y="2499122"/>
            <a:ext cx="644604" cy="644604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73893" y="2676287"/>
            <a:ext cx="290036" cy="29003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296608" y="3336608"/>
            <a:ext cx="2528292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Monitoring Module</a:t>
            </a:r>
            <a:endParaRPr lang="en-US" sz="2000" dirty="0"/>
          </a:p>
        </p:txBody>
      </p:sp>
      <p:sp>
        <p:nvSpPr>
          <p:cNvPr id="13" name="Text 7"/>
          <p:cNvSpPr/>
          <p:nvPr/>
        </p:nvSpPr>
        <p:spPr>
          <a:xfrm>
            <a:off x="4296608" y="3768447"/>
            <a:ext cx="2707362" cy="1304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tracking of electricity and water consumption across the hostel.</a:t>
            </a:r>
            <a:endParaRPr lang="en-US" sz="2000" dirty="0"/>
          </a:p>
        </p:txBody>
      </p:sp>
      <p:sp>
        <p:nvSpPr>
          <p:cNvPr id="14" name="Shape 8"/>
          <p:cNvSpPr/>
          <p:nvPr/>
        </p:nvSpPr>
        <p:spPr>
          <a:xfrm>
            <a:off x="7411641" y="2284333"/>
            <a:ext cx="3136821" cy="3003828"/>
          </a:xfrm>
          <a:prstGeom prst="roundRect">
            <a:avLst>
              <a:gd name="adj" fmla="val 1073"/>
            </a:avLst>
          </a:prstGeom>
          <a:solidFill>
            <a:srgbClr val="444752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6429" y="2499122"/>
            <a:ext cx="644604" cy="644604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03713" y="2676287"/>
            <a:ext cx="290036" cy="29003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626429" y="3336608"/>
            <a:ext cx="2528292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Analytics &amp; Reports</a:t>
            </a:r>
            <a:endParaRPr lang="en-US" sz="2000" dirty="0"/>
          </a:p>
        </p:txBody>
      </p:sp>
      <p:sp>
        <p:nvSpPr>
          <p:cNvPr id="18" name="Text 10"/>
          <p:cNvSpPr/>
          <p:nvPr/>
        </p:nvSpPr>
        <p:spPr>
          <a:xfrm>
            <a:off x="7626429" y="3768447"/>
            <a:ext cx="2707243" cy="978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Generates detailed usage reports and analytical insights.</a:t>
            </a:r>
            <a:endParaRPr lang="en-US" sz="2000" dirty="0"/>
          </a:p>
        </p:txBody>
      </p:sp>
      <p:sp>
        <p:nvSpPr>
          <p:cNvPr id="19" name="Shape 11"/>
          <p:cNvSpPr/>
          <p:nvPr/>
        </p:nvSpPr>
        <p:spPr>
          <a:xfrm>
            <a:off x="10741343" y="2284333"/>
            <a:ext cx="3136940" cy="3003828"/>
          </a:xfrm>
          <a:prstGeom prst="roundRect">
            <a:avLst>
              <a:gd name="adj" fmla="val 1073"/>
            </a:avLst>
          </a:prstGeom>
          <a:solidFill>
            <a:srgbClr val="444752"/>
          </a:solidFill>
          <a:ln/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56131" y="2499122"/>
            <a:ext cx="644604" cy="644604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133415" y="2676287"/>
            <a:ext cx="290036" cy="290036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0956131" y="3336608"/>
            <a:ext cx="2528292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Alert &amp; Notification</a:t>
            </a:r>
            <a:endParaRPr lang="en-US" sz="2000" dirty="0"/>
          </a:p>
        </p:txBody>
      </p:sp>
      <p:sp>
        <p:nvSpPr>
          <p:cNvPr id="23" name="Text 13"/>
          <p:cNvSpPr/>
          <p:nvPr/>
        </p:nvSpPr>
        <p:spPr>
          <a:xfrm>
            <a:off x="10956131" y="3768447"/>
            <a:ext cx="2707362" cy="652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alerts for anomalies and critical events.</a:t>
            </a:r>
            <a:endParaRPr lang="en-US" sz="2000" dirty="0"/>
          </a:p>
        </p:txBody>
      </p:sp>
      <p:sp>
        <p:nvSpPr>
          <p:cNvPr id="24" name="Shape 14"/>
          <p:cNvSpPr/>
          <p:nvPr/>
        </p:nvSpPr>
        <p:spPr>
          <a:xfrm>
            <a:off x="752118" y="5481042"/>
            <a:ext cx="13126164" cy="2025134"/>
          </a:xfrm>
          <a:prstGeom prst="roundRect">
            <a:avLst>
              <a:gd name="adj" fmla="val 1592"/>
            </a:avLst>
          </a:prstGeom>
          <a:solidFill>
            <a:srgbClr val="444752"/>
          </a:solidFill>
          <a:ln/>
        </p:spPr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6907" y="5695831"/>
            <a:ext cx="644604" cy="644604"/>
          </a:xfrm>
          <a:prstGeom prst="rect">
            <a:avLst/>
          </a:prstGeom>
        </p:spPr>
      </p:pic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44191" y="5872996"/>
            <a:ext cx="290036" cy="290036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966907" y="6533317"/>
            <a:ext cx="2528292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Prediction Module</a:t>
            </a:r>
            <a:endParaRPr lang="en-US" sz="2000" dirty="0"/>
          </a:p>
        </p:txBody>
      </p:sp>
      <p:sp>
        <p:nvSpPr>
          <p:cNvPr id="28" name="Text 16"/>
          <p:cNvSpPr/>
          <p:nvPr/>
        </p:nvSpPr>
        <p:spPr>
          <a:xfrm>
            <a:off x="966907" y="6965156"/>
            <a:ext cx="12696587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Leverages AI to forecast future utility consumption patterns.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390055"/>
            <a:ext cx="751546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Features &amp; Functionality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25079" y="2384227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system delivers a robust suite of features for comprehensive utility oversight.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37724" y="3440430"/>
            <a:ext cx="6185535" cy="3064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0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Granular Monitoring:</a:t>
            </a:r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Room-wise and block-wise consumption tracking.</a:t>
            </a:r>
            <a:endParaRPr lang="en-US" sz="200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0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Usage Visuals:</a:t>
            </a:r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Daily, weekly, and monthly usage charts for clear insights.</a:t>
            </a:r>
            <a:endParaRPr lang="en-US" sz="200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0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Anomaly Detection:</a:t>
            </a:r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Identifies power spikes and unusual consumption.</a:t>
            </a:r>
            <a:endParaRPr lang="en-US" sz="200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0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Leakage Alerts:</a:t>
            </a:r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Proactive detection of water leakage issues.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14761" y="3440430"/>
            <a:ext cx="6185535" cy="191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0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Smart Alerts:</a:t>
            </a:r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Automated generation of alerts for critical events.</a:t>
            </a:r>
            <a:endParaRPr lang="en-US" sz="200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0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Import:</a:t>
            </a:r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Convenient CSV data upload functionality.</a:t>
            </a:r>
            <a:endParaRPr lang="en-US" sz="200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0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Forecasting:</a:t>
            </a:r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Predictive analysis for future consumption and billing.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3312" y="724495"/>
            <a:ext cx="9794081" cy="658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Solving the Problem: Real-World Impact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914043" y="1692592"/>
            <a:ext cx="13063776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addresses core challenges by providing actionable intelligence and automation.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88" y="2690102"/>
            <a:ext cx="1316650" cy="18629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61118" y="2383274"/>
            <a:ext cx="1767840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Pinpoint Wastage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1903020" y="3041690"/>
            <a:ext cx="1898749" cy="138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Identifies the exact source of inefficiency and excessive usage.</a:t>
            </a:r>
            <a:endParaRPr lang="en-US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7155" y="2629612"/>
            <a:ext cx="1092637" cy="18629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16391" y="2383274"/>
            <a:ext cx="1767959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Reduce Energy Use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5365179" y="3167182"/>
            <a:ext cx="1819171" cy="138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Empowers users to minimize unnecessary power consumption.</a:t>
            </a:r>
            <a:endParaRPr lang="en-US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4575" y="2448276"/>
            <a:ext cx="1092637" cy="204430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47760" y="2383274"/>
            <a:ext cx="1767959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Prevent Water Loss</a:t>
            </a:r>
            <a:endParaRPr lang="en-US" sz="2050" dirty="0"/>
          </a:p>
        </p:txBody>
      </p:sp>
      <p:sp>
        <p:nvSpPr>
          <p:cNvPr id="12" name="Text 7"/>
          <p:cNvSpPr/>
          <p:nvPr/>
        </p:nvSpPr>
        <p:spPr>
          <a:xfrm>
            <a:off x="8747760" y="3167182"/>
            <a:ext cx="1767959" cy="138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Mitigates water wastage due to leaks and overflows.</a:t>
            </a:r>
            <a:endParaRPr lang="en-US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1995" y="2383274"/>
            <a:ext cx="1092637" cy="204430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079129" y="2383274"/>
            <a:ext cx="1767959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Timely Intervention</a:t>
            </a:r>
            <a:endParaRPr lang="en-US" sz="2050" dirty="0"/>
          </a:p>
        </p:txBody>
      </p:sp>
      <p:sp>
        <p:nvSpPr>
          <p:cNvPr id="15" name="Text 9"/>
          <p:cNvSpPr/>
          <p:nvPr/>
        </p:nvSpPr>
        <p:spPr>
          <a:xfrm>
            <a:off x="12079129" y="3167182"/>
            <a:ext cx="1767959" cy="138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Enables administrators to take swift corrective actions.</a:t>
            </a:r>
            <a:endParaRPr lang="en-US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8439" y="5582653"/>
            <a:ext cx="1442761" cy="159169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876211" y="5482888"/>
            <a:ext cx="1767840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Lower Bills</a:t>
            </a:r>
            <a:endParaRPr lang="en-US" sz="2050" dirty="0"/>
          </a:p>
        </p:txBody>
      </p:sp>
      <p:sp>
        <p:nvSpPr>
          <p:cNvPr id="18" name="Text 11"/>
          <p:cNvSpPr/>
          <p:nvPr/>
        </p:nvSpPr>
        <p:spPr>
          <a:xfrm>
            <a:off x="5876211" y="6001226"/>
            <a:ext cx="2358015" cy="1732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Significantly reduces overall electricity and water expenditures.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274" y="542211"/>
            <a:ext cx="7513677" cy="56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Advantages &amp; Versatile Applications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047274" y="1421130"/>
            <a:ext cx="12535733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solution offers numerous benefits and broad applicability beyond hostels.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4084" y="2165683"/>
            <a:ext cx="4334653" cy="4259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Cost-Effective:</a:t>
            </a:r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financially viable solution for various institutions.</a:t>
            </a:r>
            <a:endParaRPr lang="en-US" sz="20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User-Friendly:</a:t>
            </a:r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Designed for ease of use and operational simplicity.</a:t>
            </a:r>
            <a:endParaRPr lang="en-US" sz="20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Scalable:</a:t>
            </a:r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Easily adaptable to different sizes and types of facilities.</a:t>
            </a:r>
            <a:endParaRPr lang="en-US" sz="20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Resource Management:</a:t>
            </a:r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Enhances efficiency in utility allocation and use.</a:t>
            </a:r>
            <a:endParaRPr lang="en-US" sz="20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Wide Applicability:</a:t>
            </a:r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Ideal for hostels, educational institutions, and more.</a:t>
            </a:r>
            <a:endParaRPr lang="en-US" sz="20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Hardware Independent:</a:t>
            </a:r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No reliance on specific physical devices, simplifying deployment.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129" y="2050018"/>
            <a:ext cx="7983379" cy="54622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76789"/>
            <a:ext cx="940665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Future Enhancements &amp; Conclusion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159556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system is designed for continuous improvement and paves the way for smarter utility management.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3051096"/>
            <a:ext cx="461986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Future Enhancements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837724" y="3853696"/>
            <a:ext cx="6185535" cy="3064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0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IoT Integration:</a:t>
            </a:r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Seamless connectivity with smart meters for real-time data.</a:t>
            </a:r>
            <a:endParaRPr lang="en-US" sz="200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0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Mobile App:</a:t>
            </a:r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Dedicated application with instant alerts and controls.</a:t>
            </a:r>
            <a:endParaRPr lang="en-US" sz="200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0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Expanded Notifications:</a:t>
            </a:r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SMS and email alerts for critical updates.</a:t>
            </a:r>
            <a:endParaRPr lang="en-US" sz="200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0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Advanced AI:</a:t>
            </a:r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Deeper analysis for predictive maintenance and optimization.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14761" y="3051096"/>
            <a:ext cx="4505920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Conclusion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7973735" y="3883581"/>
            <a:ext cx="582656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system offers a smart, sustainable, and cost-saving solution for modern utility management in hostels.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614761" y="3883581"/>
            <a:ext cx="30480" cy="766048"/>
          </a:xfrm>
          <a:prstGeom prst="rect">
            <a:avLst/>
          </a:prstGeom>
          <a:solidFill>
            <a:srgbClr val="F98AC7"/>
          </a:solidFill>
          <a:ln/>
        </p:spPr>
      </p:sp>
      <p:sp>
        <p:nvSpPr>
          <p:cNvPr id="9" name="Text 7"/>
          <p:cNvSpPr/>
          <p:nvPr/>
        </p:nvSpPr>
        <p:spPr>
          <a:xfrm>
            <a:off x="7614761" y="4955381"/>
            <a:ext cx="6185535" cy="729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It promotes efficiency, reduces environmental impact, and provides valuable insights for informed decision-making.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711</Words>
  <Application>Microsoft Office PowerPoint</Application>
  <PresentationFormat>Custom</PresentationFormat>
  <Paragraphs>112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Times New Roman</vt:lpstr>
      <vt:lpstr>Lora</vt:lpstr>
      <vt:lpstr>Source Sans 3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 suriyavelan</dc:creator>
  <cp:lastModifiedBy>Suriyavelan Y</cp:lastModifiedBy>
  <cp:revision>2</cp:revision>
  <dcterms:created xsi:type="dcterms:W3CDTF">2026-01-30T15:16:11Z</dcterms:created>
  <dcterms:modified xsi:type="dcterms:W3CDTF">2026-01-30T16:37:46Z</dcterms:modified>
</cp:coreProperties>
</file>